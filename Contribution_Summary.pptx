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2191695" cy="237744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/>
          <a:lstStyle/>
          <a:p>
            <a:pPr algn="ctr"/>
            <a:r>
              <a:rPr sz="4400" b="1">
                <a:solidFill>
                  <a:srgbClr val="FFFFFF"/>
                </a:solidFill>
              </a:rPr>
              <a:t>Team Contribution Summary</a:t>
            </a:r>
          </a:p>
          <a:p>
            <a:r>
              <a:rPr sz="2000">
                <a:solidFill>
                  <a:srgbClr val="D8E2EF"/>
                </a:solidFill>
              </a:rPr>
              <a:t>ScamGuard SG / Scam Patrol — C270 DevOps Essentials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75488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1E3A5F"/>
                </a:solidFill>
              </a:rPr>
              <a:t>Evidence-based: </a:t>
            </a:r>
            <a:r>
              <a:rPr sz="1400">
                <a:solidFill>
                  <a:srgbClr val="555F6E"/>
                </a:solidFill>
              </a:rPr>
              <a:t>measured from the Git repository (origin/main + all remote branches), 15 Jul 2026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E3A5F"/>
                </a:solidFill>
              </a:rPr>
              <a:t>Method: </a:t>
            </a:r>
            <a:r>
              <a:rPr sz="1400">
                <a:solidFill>
                  <a:srgbClr val="555F6E"/>
                </a:solidFill>
              </a:rPr>
              <a:t>in-file &lt;Name Start&gt;/&lt;Name End&gt; ownership markers + git blame fallback, git log --numstat, commit counts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555F6E"/>
                </a:solidFill>
              </a:rPr>
              <a:t>Non-blank lines only · package-lock.json, images and audio excluded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How contributions were measured</a:t>
            </a:r>
          </a:p>
          <a:p>
            <a:r>
              <a:rPr sz="1300">
                <a:solidFill>
                  <a:srgbClr val="D8E2EF"/>
                </a:solidFill>
              </a:rPr>
              <a:t>Three objective signals, weighted toward the deployed app on main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36576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/>
          <a:lstStyle/>
          <a:p>
            <a:pPr algn="ctr"/>
            <a:r>
              <a:rPr sz="1700" b="1">
                <a:solidFill>
                  <a:srgbClr val="1E3A5F"/>
                </a:solidFill>
              </a:rPr>
              <a:t>1 · Line ownership on main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C0322E"/>
                </a:solidFill>
              </a:rPr>
              <a:t>≈50% weight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555F6E"/>
                </a:solidFill>
              </a:rPr>
              <a:t>Non-blank lines attributed via the repo's &lt;Name Start&gt;/&lt;Name End&gt; markers; git blame for unmarked lines.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555F6E"/>
                </a:solidFill>
              </a:rPr>
              <a:t>Shania ~5,100 · Liam ~3,260 · Rebecca ~2,600 · Shawn ~1,480 · CG ~420 · Nivi ~220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0" y="1371600"/>
            <a:ext cx="36576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/>
          <a:lstStyle/>
          <a:p>
            <a:pPr algn="ctr"/>
            <a:r>
              <a:rPr sz="1700" b="1">
                <a:solidFill>
                  <a:srgbClr val="1E3A5F"/>
                </a:solidFill>
              </a:rPr>
              <a:t>2 · Lines inserted on main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C0322E"/>
                </a:solidFill>
              </a:rPr>
              <a:t>≈30% weight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555F6E"/>
                </a:solidFill>
              </a:rPr>
              <a:t>git log --numstat totals per author — also credits work later refactored into others' files.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555F6E"/>
                </a:solidFill>
              </a:rPr>
              <a:t>Shania 10,560 · Liam 4,071 · Rebecca 3,550 · Shawn 2,461 · CG 631 · Nivi 554</a:t>
            </a:r>
          </a:p>
        </p:txBody>
      </p:sp>
      <p:sp>
        <p:nvSpPr>
          <p:cNvPr id="6" name="Rectangle 5"/>
          <p:cNvSpPr/>
          <p:nvPr/>
        </p:nvSpPr>
        <p:spPr>
          <a:xfrm>
            <a:off x="8321040" y="1371600"/>
            <a:ext cx="36576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/>
          <a:lstStyle/>
          <a:p>
            <a:pPr algn="ctr"/>
            <a:r>
              <a:rPr sz="1700" b="1">
                <a:solidFill>
                  <a:srgbClr val="1E3A5F"/>
                </a:solidFill>
              </a:rPr>
              <a:t>3 · Commits on main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C0322E"/>
                </a:solidFill>
              </a:rPr>
              <a:t>≈20% weight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555F6E"/>
                </a:solidFill>
              </a:rPr>
              <a:t>Weighted lowest — commit size varies hugely (16 of Shania's are marker-comment commits; CG's 25 are mostly small).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555F6E"/>
                </a:solidFill>
              </a:rPr>
              <a:t>Shania 54 · CG 25 · Shawn 19 · Rebecca 10 · Liam 4 · Nivi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607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1E3A5F"/>
                </a:solidFill>
              </a:rPr>
              <a:t>Plus fairness adjustments: </a:t>
            </a:r>
            <a:r>
              <a:rPr sz="1400">
                <a:solidFill>
                  <a:srgbClr val="555F6E"/>
                </a:solidFill>
              </a:rPr>
              <a:t>partial credit for substantial unmerged work; correction where file-top markers swallowed a teammate's lines.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Contribution summary</a:t>
            </a:r>
          </a:p>
          <a:p>
            <a:r>
              <a:rPr sz="1300">
                <a:solidFill>
                  <a:srgbClr val="D8E2EF"/>
                </a:solidFill>
              </a:rPr>
              <a:t>Merged code in main counts most — it is the working product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234440"/>
          <a:ext cx="1143000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7680960"/>
                <a:gridCol w="1097280"/>
              </a:tblGrid>
              <a:tr h="744582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Member (role)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Contributions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%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744582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E3A5F"/>
                          </a:solidFill>
                        </a:rPr>
                        <a:t>Shania — M1, Team Lead</a:t>
                      </a:r>
                    </a:p>
                    <a:p>
                      <a:r>
                        <a:rPr sz="1250" b="0">
                          <a:solidFill>
                            <a:srgbClr val="1E3A5F"/>
                          </a:solidFill>
                        </a:rPr>
                        <a:t>Auth + AI Checker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555F6E"/>
                          </a:solidFill>
                        </a:rPr>
                        <a:t>App skeleton (server, DB, layout, navy theme) · full auth (JWT/bcrypt/reset) · AI Scam Checker (Gemini) · Scam Patrol HQ gamification + leaderboard · integration &amp; merge fixes.  ~5,100 lines · ~67 files · 54 commits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C0322E"/>
                          </a:solidFill>
                        </a:rPr>
                        <a:t>41%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44582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E3A5F"/>
                          </a:solidFill>
                        </a:rPr>
                        <a:t>Liam — M5</a:t>
                      </a:r>
                    </a:p>
                    <a:p>
                      <a:r>
                        <a:rPr sz="1250" b="0">
                          <a:solidFill>
                            <a:srgbClr val="1E3A5F"/>
                          </a:solidFill>
                        </a:rPr>
                        <a:t>Weather / Quiz / Points</a:t>
                      </a:r>
                    </a:p>
                  </a:txBody>
                  <a:tcPr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555F6E"/>
                          </a:solidFill>
                        </a:rPr>
                        <a:t>Scam Weather (821-line service) + Daily Quiz (510-line service) merged; points/badges/leaderboard (~1,354 lines) only on unmerged branch.  ~3,260 merged lines · 15 files · 4 main commits</a:t>
                      </a:r>
                    </a:p>
                  </a:txBody>
                  <a:tcPr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C0322E"/>
                          </a:solidFill>
                        </a:rPr>
                        <a:t>21%</a:t>
                      </a:r>
                    </a:p>
                  </a:txBody>
                  <a:tcPr>
                    <a:solidFill>
                      <a:srgbClr val="EEF3F9"/>
                    </a:solidFill>
                  </a:tcPr>
                </a:tc>
              </a:tr>
              <a:tr h="744582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E3A5F"/>
                          </a:solidFill>
                        </a:rPr>
                        <a:t>Rebecca — M2</a:t>
                      </a:r>
                    </a:p>
                    <a:p>
                      <a:r>
                        <a:rPr sz="1250" b="0">
                          <a:solidFill>
                            <a:srgbClr val="1E3A5F"/>
                          </a:solidFill>
                        </a:rPr>
                        <a:t>Case Reporting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555F6E"/>
                          </a:solidFill>
                        </a:rPr>
                        <a:t>Scam-report CRUD (controller + model + views) · draft auto-save · image upload · chatbot widget + voice/resize.  ~2,600 lines · 24 files · 10 commits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C0322E"/>
                          </a:solidFill>
                        </a:rPr>
                        <a:t>16%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44582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E3A5F"/>
                          </a:solidFill>
                        </a:rPr>
                        <a:t>Shawn — M6</a:t>
                      </a:r>
                    </a:p>
                    <a:p>
                      <a:r>
                        <a:rPr sz="1250" b="0">
                          <a:solidFill>
                            <a:srgbClr val="1E3A5F"/>
                          </a:solidFill>
                        </a:rPr>
                        <a:t>Admin + Glossary</a:t>
                      </a:r>
                    </a:p>
                  </a:txBody>
                  <a:tcPr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555F6E"/>
                          </a:solidFill>
                        </a:rPr>
                        <a:t>Admin panel with RBAC (7 admin views) · Scam Glossary + admin CRUD · chatbot history · debugging help for teammates.  ~1,480 lines · 17 files · 19 commits</a:t>
                      </a:r>
                    </a:p>
                  </a:txBody>
                  <a:tcPr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C0322E"/>
                          </a:solidFill>
                        </a:rPr>
                        <a:t>12%</a:t>
                      </a:r>
                    </a:p>
                  </a:txBody>
                  <a:tcPr>
                    <a:solidFill>
                      <a:srgbClr val="EEF3F9"/>
                    </a:solidFill>
                  </a:tcPr>
                </a:tc>
              </a:tr>
              <a:tr h="744582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E3A5F"/>
                          </a:solidFill>
                        </a:rPr>
                        <a:t>CG — M4</a:t>
                      </a:r>
                    </a:p>
                    <a:p>
                      <a:r>
                        <a:rPr sz="1250" b="0">
                          <a:solidFill>
                            <a:srgbClr val="1E3A5F"/>
                          </a:solidFill>
                        </a:rPr>
                        <a:t>Comments + Profile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555F6E"/>
                          </a:solidFill>
                        </a:rPr>
                        <a:t>Comment threads on cases · profile pages (avatar/bio) · multilingual chatbot replies.  ~630 merged lines · 7 files · 25 commits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C0322E"/>
                          </a:solidFill>
                        </a:rPr>
                        <a:t>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4458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E3A5F"/>
                          </a:solidFill>
                        </a:rPr>
                        <a:t>Nivi — M3</a:t>
                      </a:r>
                    </a:p>
                    <a:p>
                      <a:r>
                        <a:rPr sz="1250" b="0">
                          <a:solidFill>
                            <a:srgbClr val="1E3A5F"/>
                          </a:solidFill>
                        </a:rPr>
                        <a:t>Community Watch</a:t>
                      </a:r>
                    </a:p>
                  </a:txBody>
                  <a:tcPr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555F6E"/>
                          </a:solidFill>
                        </a:rPr>
                        <a:t>Case browse/vote/flag in list &amp; detail pages + CSS · site-wide sensitive-info guard.  ~554 merged lines (part absorbed into M1/M2 files) · 3 commits</a:t>
                      </a:r>
                    </a:p>
                  </a:txBody>
                  <a:tcPr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C0322E"/>
                          </a:solidFill>
                        </a:rPr>
                        <a:t>4%</a:t>
                      </a:r>
                    </a:p>
                  </a:txBody>
                  <a:tcPr>
                    <a:solidFill>
                      <a:srgbClr val="EEF3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Overall split (100%)</a:t>
            </a:r>
          </a:p>
          <a:p>
            <a:r>
              <a:rPr sz="1300">
                <a:solidFill>
                  <a:srgbClr val="D8E2EF"/>
                </a:solidFill>
              </a:rPr>
              <a:t>Percentages are defensible estimates for discussion, not a verdict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 b="1">
                <a:solidFill>
                  <a:srgbClr val="1E3A5F"/>
                </a:solidFill>
              </a:rPr>
              <a:t>Shania (M1)</a:t>
            </a:r>
          </a:p>
        </p:txBody>
      </p:sp>
      <p:sp>
        <p:nvSpPr>
          <p:cNvPr id="5" name="Rectangle 4"/>
          <p:cNvSpPr/>
          <p:nvPr/>
        </p:nvSpPr>
        <p:spPr>
          <a:xfrm>
            <a:off x="2834640" y="1463040"/>
            <a:ext cx="7498079" cy="4572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69879" y="146304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0322E"/>
                </a:solidFill>
              </a:rPr>
              <a:t>41%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04288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 b="1">
                <a:solidFill>
                  <a:srgbClr val="1E3A5F"/>
                </a:solidFill>
              </a:rPr>
              <a:t>Liam (M5)</a:t>
            </a:r>
          </a:p>
        </p:txBody>
      </p:sp>
      <p:sp>
        <p:nvSpPr>
          <p:cNvPr id="8" name="Rectangle 7"/>
          <p:cNvSpPr/>
          <p:nvPr/>
        </p:nvSpPr>
        <p:spPr>
          <a:xfrm>
            <a:off x="2834640" y="2304288"/>
            <a:ext cx="3840479" cy="457200"/>
          </a:xfrm>
          <a:prstGeom prst="rect">
            <a:avLst/>
          </a:prstGeom>
          <a:solidFill>
            <a:srgbClr val="2E52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12279" y="2304288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0322E"/>
                </a:solidFill>
              </a:rPr>
              <a:t>21%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145536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 b="1">
                <a:solidFill>
                  <a:srgbClr val="1E3A5F"/>
                </a:solidFill>
              </a:rPr>
              <a:t>Rebecca (M2)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34640" y="3145536"/>
            <a:ext cx="2926079" cy="4572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7879" y="3145536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0322E"/>
                </a:solidFill>
              </a:rPr>
              <a:t>16%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986784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 b="1">
                <a:solidFill>
                  <a:srgbClr val="1E3A5F"/>
                </a:solidFill>
              </a:rPr>
              <a:t>Shawn (M6)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34640" y="3986784"/>
            <a:ext cx="2194559" cy="457200"/>
          </a:xfrm>
          <a:prstGeom prst="rect">
            <a:avLst/>
          </a:prstGeom>
          <a:solidFill>
            <a:srgbClr val="2E52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66359" y="3986784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0322E"/>
                </a:solidFill>
              </a:rPr>
              <a:t>12%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828032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 b="1">
                <a:solidFill>
                  <a:srgbClr val="1E3A5F"/>
                </a:solidFill>
              </a:rPr>
              <a:t>CG (M4)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34640" y="4828032"/>
            <a:ext cx="1097279" cy="4572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69079" y="4828032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0322E"/>
                </a:solidFill>
              </a:rPr>
              <a:t>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66928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 b="1">
                <a:solidFill>
                  <a:srgbClr val="1E3A5F"/>
                </a:solidFill>
              </a:rPr>
              <a:t>Nivi (M3)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34640" y="5669280"/>
            <a:ext cx="731519" cy="457200"/>
          </a:xfrm>
          <a:prstGeom prst="rect">
            <a:avLst/>
          </a:prstGeom>
          <a:solidFill>
            <a:srgbClr val="2E52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03319" y="566928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0322E"/>
                </a:solidFill>
              </a:rPr>
              <a:t>4%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Unmerged branches (not in the final app)</a:t>
            </a:r>
          </a:p>
          <a:p>
            <a:r>
              <a:rPr sz="1300">
                <a:solidFill>
                  <a:srgbClr val="D8E2EF"/>
                </a:solidFill>
              </a:rPr>
              <a:t>Partial credit given only where the work is substantial and unique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1">
                <a:solidFill>
                  <a:srgbClr val="1E3A5F"/>
                </a:solidFill>
              </a:rPr>
              <a:t>feature/liam-points (Liam, 3 commits, +1,354 lines): </a:t>
            </a:r>
            <a:r>
              <a:rPr sz="1600">
                <a:solidFill>
                  <a:srgbClr val="555F6E"/>
                </a:solidFill>
              </a:rPr>
              <a:t>points API, badge system, leaderboard — his assigned M5 feature, never merged. Partial credit ≈ +2 pts.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1E3A5F"/>
                </a:solidFill>
              </a:rPr>
              <a:t>liam/scamweather (Liam, 5 commits ahead): </a:t>
            </a:r>
            <a:r>
              <a:rPr sz="1600">
                <a:solidFill>
                  <a:srgbClr val="555F6E"/>
                </a:solidFill>
              </a:rPr>
              <a:t>early Scam Weather version, superseded by the merged scamweatherv2; unique content is the points work already counted.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1E3A5F"/>
                </a:solidFill>
              </a:rPr>
              <a:t>feature/member2 (Rebecca, 1 commit, +786 lines): </a:t>
            </a:r>
            <a:r>
              <a:rPr sz="1600">
                <a:solidFill>
                  <a:srgbClr val="555F6E"/>
                </a:solidFill>
              </a:rPr>
              <a:t>early case-report version (27 Jun), superseded by her later merged work — no extra credit.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1E3A5F"/>
                </a:solidFill>
              </a:rPr>
              <a:t>comments-share / m1-fixes (Shania): </a:t>
            </a:r>
            <a:r>
              <a:rPr sz="1600">
                <a:solidFill>
                  <a:srgbClr val="555F6E"/>
                </a:solidFill>
              </a:rPr>
              <a:t>temporary branches adding explanatory code comments only — no feature value, no credit.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1E3A5F"/>
                </a:solidFill>
              </a:rPr>
              <a:t>worktree-sprightly-chasing-journal (Shania): </a:t>
            </a:r>
            <a:r>
              <a:rPr sz="1600">
                <a:solidFill>
                  <a:srgbClr val="555F6E"/>
                </a:solidFill>
              </a:rPr>
              <a:t>a 30-line CONTRIBUTIONS.md draft — negligible.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Caveats — read before quoting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1">
                <a:solidFill>
                  <a:srgbClr val="1E3A5F"/>
                </a:solidFill>
              </a:rPr>
              <a:t>Code volume ≠ effort. </a:t>
            </a:r>
            <a:r>
              <a:rPr sz="1600">
                <a:solidFill>
                  <a:srgbClr val="555F6E"/>
                </a:solidFill>
              </a:rPr>
              <a:t>Design, ideation, testing, debugging sessions and meetings are invisible to git. Shawn's commit messages record debugging help for others that line counts under-credit.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1E3A5F"/>
                </a:solidFill>
              </a:rPr>
              <a:t>Lead overhead. </a:t>
            </a:r>
            <a:r>
              <a:rPr sz="1600">
                <a:solidFill>
                  <a:srgbClr val="555F6E"/>
                </a:solidFill>
              </a:rPr>
              <a:t>Shania's insertions include merge-conflict fixes, reverts and re-theming across everyone's areas — real integration work, but it inflates raw totals.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1E3A5F"/>
                </a:solidFill>
              </a:rPr>
              <a:t>Marker swallowing. </a:t>
            </a:r>
            <a:r>
              <a:rPr sz="1600">
                <a:solidFill>
                  <a:srgbClr val="555F6E"/>
                </a:solidFill>
              </a:rPr>
              <a:t>Top-of-file ownership markers absorb later small edits by teammates in the same file — this hit Nivi hardest (554 inserted vs ~220 still under her name); corrected manually.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1E3A5F"/>
                </a:solidFill>
              </a:rPr>
              <a:t>Commit counts mislead. </a:t>
            </a:r>
            <a:r>
              <a:rPr sz="1600">
                <a:solidFill>
                  <a:srgbClr val="555F6E"/>
                </a:solidFill>
              </a:rPr>
              <a:t>16 of Shania's 54 commits are comment-marker commits; CG's 25 commits are mostly small — hence the low weight on this signal.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1E3A5F"/>
                </a:solidFill>
              </a:rPr>
              <a:t>Estimate for discussion. </a:t>
            </a:r>
            <a:r>
              <a:rPr sz="1600">
                <a:solidFill>
                  <a:srgbClr val="555F6E"/>
                </a:solidFill>
              </a:rPr>
              <a:t>The percentages sum to 100 and are defensible from the repo, but they are a starting point for the team conversation, not a final grade.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